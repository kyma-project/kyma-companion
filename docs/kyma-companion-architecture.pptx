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8" r:id="rId4"/>
    <p:sldId id="266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22"/>
    <p:restoredTop sz="94655"/>
  </p:normalViewPr>
  <p:slideViewPr>
    <p:cSldViewPr snapToGrid="0" snapToObjects="1">
      <p:cViewPr varScale="1">
        <p:scale>
          <a:sx n="292" d="100"/>
          <a:sy n="292" d="100"/>
        </p:scale>
        <p:origin x="123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291840"/>
            <a:ext cx="12188952" cy="109728"/>
          </a:xfrm>
          <a:prstGeom prst="rect">
            <a:avLst/>
          </a:prstGeom>
          <a:solidFill>
            <a:srgbClr val="006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401568"/>
            <a:ext cx="12188952" cy="54864"/>
          </a:xfrm>
          <a:prstGeom prst="rect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Kyma Companion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05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0" dirty="0">
                <a:solidFill>
                  <a:srgbClr val="006DBD"/>
                </a:solidFill>
              </a:rPr>
              <a:t>History &amp; Current state</a:t>
            </a:r>
            <a:endParaRPr sz="3600" b="0" dirty="0">
              <a:solidFill>
                <a:srgbClr val="006DBD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374903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CCCCC"/>
                </a:solidFill>
              </a:rPr>
              <a:t>Hierarchical Multi-Agent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566"/>
                </a:solidFill>
              </a:rP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3211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006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Architecture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Hierarchical multi-agent system built with LangGraph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45920"/>
            <a:ext cx="53035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645920"/>
            <a:ext cx="5303520" cy="347472"/>
          </a:xfrm>
          <a:prstGeom prst="rect">
            <a:avLst/>
          </a:prstGeom>
          <a:solidFill>
            <a:srgbClr val="006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682496"/>
            <a:ext cx="51206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 b="1" dirty="0">
                <a:solidFill>
                  <a:srgbClr val="FFFFFF"/>
                </a:solidFill>
              </a:rPr>
              <a:t>Iteration 1</a:t>
            </a:r>
            <a:endParaRPr sz="1300" b="1" dirty="0"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126480" y="1645920"/>
            <a:ext cx="57607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26480" y="1645920"/>
            <a:ext cx="5760720" cy="347472"/>
          </a:xfrm>
          <a:prstGeom prst="rect">
            <a:avLst/>
          </a:prstGeom>
          <a:solidFill>
            <a:srgbClr val="006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1682496"/>
            <a:ext cx="55778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dirty="0">
                <a:solidFill>
                  <a:srgbClr val="FFFFFF"/>
                </a:solidFill>
              </a:rPr>
              <a:t>Iteration</a:t>
            </a:r>
            <a:r>
              <a:rPr sz="1300" b="1" dirty="0">
                <a:solidFill>
                  <a:srgbClr val="FFFFFF"/>
                </a:solidFill>
              </a:rPr>
              <a:t> </a:t>
            </a: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sz="1300" b="1" dirty="0">
              <a:solidFill>
                <a:srgbClr val="FFFFFF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309360" y="2240280"/>
            <a:ext cx="347472" cy="347472"/>
          </a:xfrm>
          <a:prstGeom prst="rect">
            <a:avLst/>
          </a:prstGeom>
          <a:solidFill>
            <a:srgbClr val="006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0" y="22402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24028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1A1A2E"/>
                </a:solidFill>
              </a:rPr>
              <a:t>Summarize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834640"/>
            <a:ext cx="347472" cy="347472"/>
          </a:xfrm>
          <a:prstGeom prst="rect">
            <a:avLst/>
          </a:prstGeom>
          <a:solidFill>
            <a:srgbClr val="006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9360" y="28346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8346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</a:rPr>
              <a:t>Gatekeeper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429000"/>
            <a:ext cx="347472" cy="347472"/>
          </a:xfrm>
          <a:prstGeom prst="rect">
            <a:avLst/>
          </a:prstGeom>
          <a:solidFill>
            <a:srgbClr val="006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9360" y="34290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34290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</a:rPr>
              <a:t>Supervisor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023360"/>
            <a:ext cx="347472" cy="347472"/>
          </a:xfrm>
          <a:prstGeom prst="rect">
            <a:avLst/>
          </a:prstGeom>
          <a:solidFill>
            <a:srgbClr val="006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09360" y="40233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40233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</a:rPr>
              <a:t>Agents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4617720"/>
            <a:ext cx="347472" cy="347472"/>
          </a:xfrm>
          <a:prstGeom prst="rect">
            <a:avLst/>
          </a:prstGeom>
          <a:solidFill>
            <a:srgbClr val="006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09360" y="46177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46177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</a:rPr>
              <a:t>Finalizer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6787BCA2-A1A1-6385-3858-2FF447EED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97" y="2086573"/>
            <a:ext cx="4271553" cy="430899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842A5E1-96DF-F862-6D9F-BCA5479133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086573"/>
            <a:ext cx="4438542" cy="4387434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6E283D18-8A80-5630-2B18-C4256D67E91B}"/>
              </a:ext>
            </a:extLst>
          </p:cNvPr>
          <p:cNvSpPr/>
          <p:nvPr/>
        </p:nvSpPr>
        <p:spPr>
          <a:xfrm>
            <a:off x="7506788" y="3324061"/>
            <a:ext cx="914401" cy="814688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CFA18-8815-A11F-0F35-FE1778DD9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F348D21-6CAA-EA86-1980-866FE44D2911}"/>
              </a:ext>
            </a:extLst>
          </p:cNvPr>
          <p:cNvSpPr/>
          <p:nvPr/>
        </p:nvSpPr>
        <p:spPr>
          <a:xfrm>
            <a:off x="0" y="113211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1EB41E-2359-B83A-6F92-1923175DB710}"/>
              </a:ext>
            </a:extLst>
          </p:cNvPr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51EB55-37F1-7592-2EDE-84829E00D771}"/>
              </a:ext>
            </a:extLst>
          </p:cNvPr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006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D7B239-2288-8778-52AE-58D290B3A1FB}"/>
              </a:ext>
            </a:extLst>
          </p:cNvPr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Architecture Overview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09F5D9-E566-CC51-2A44-A1199D5C5232}"/>
              </a:ext>
            </a:extLst>
          </p:cNvPr>
          <p:cNvSpPr txBox="1"/>
          <p:nvPr/>
        </p:nvSpPr>
        <p:spPr>
          <a:xfrm>
            <a:off x="365760" y="8686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Hierarchical multi-agent system built with LangGraph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3F34A4-783A-C984-5A40-F0663F124BE2}"/>
              </a:ext>
            </a:extLst>
          </p:cNvPr>
          <p:cNvSpPr/>
          <p:nvPr/>
        </p:nvSpPr>
        <p:spPr>
          <a:xfrm>
            <a:off x="274320" y="1645920"/>
            <a:ext cx="53035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71B57A-09BA-B5D5-621F-F7330A340C2F}"/>
              </a:ext>
            </a:extLst>
          </p:cNvPr>
          <p:cNvSpPr/>
          <p:nvPr/>
        </p:nvSpPr>
        <p:spPr>
          <a:xfrm>
            <a:off x="274320" y="1645920"/>
            <a:ext cx="5303520" cy="347472"/>
          </a:xfrm>
          <a:prstGeom prst="rect">
            <a:avLst/>
          </a:prstGeom>
          <a:solidFill>
            <a:srgbClr val="006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660314-89E9-C92F-EF66-9CABB8C3B229}"/>
              </a:ext>
            </a:extLst>
          </p:cNvPr>
          <p:cNvSpPr txBox="1"/>
          <p:nvPr/>
        </p:nvSpPr>
        <p:spPr>
          <a:xfrm>
            <a:off x="365760" y="1682496"/>
            <a:ext cx="51206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 b="1" dirty="0">
                <a:solidFill>
                  <a:srgbClr val="FFFFFF"/>
                </a:solidFill>
              </a:rPr>
              <a:t>Iteration 3</a:t>
            </a:r>
            <a:endParaRPr sz="1300" b="1" dirty="0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70C7F4-2824-0747-6747-56B42769E355}"/>
              </a:ext>
            </a:extLst>
          </p:cNvPr>
          <p:cNvSpPr/>
          <p:nvPr/>
        </p:nvSpPr>
        <p:spPr>
          <a:xfrm>
            <a:off x="6126480" y="1645920"/>
            <a:ext cx="57607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C63318-A6F6-30A2-35F9-AB4A968F21FE}"/>
              </a:ext>
            </a:extLst>
          </p:cNvPr>
          <p:cNvSpPr/>
          <p:nvPr/>
        </p:nvSpPr>
        <p:spPr>
          <a:xfrm>
            <a:off x="6126480" y="1645920"/>
            <a:ext cx="5760720" cy="347472"/>
          </a:xfrm>
          <a:prstGeom prst="rect">
            <a:avLst/>
          </a:prstGeom>
          <a:solidFill>
            <a:srgbClr val="006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406FD3-C2F8-B3F2-68DB-175678A44BFD}"/>
              </a:ext>
            </a:extLst>
          </p:cNvPr>
          <p:cNvSpPr txBox="1"/>
          <p:nvPr/>
        </p:nvSpPr>
        <p:spPr>
          <a:xfrm>
            <a:off x="6217920" y="1682496"/>
            <a:ext cx="55778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dirty="0">
                <a:solidFill>
                  <a:srgbClr val="FFFFFF"/>
                </a:solidFill>
              </a:rPr>
              <a:t>Iteration</a:t>
            </a:r>
            <a:r>
              <a:rPr sz="1300" b="1" dirty="0">
                <a:solidFill>
                  <a:srgbClr val="FFFFFF"/>
                </a:solidFill>
              </a:rPr>
              <a:t> </a:t>
            </a: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sz="1300" b="1" dirty="0">
              <a:solidFill>
                <a:srgbClr val="FFFFFF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C9BC47E-23C9-305B-4532-B169DCF36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549" y="2088095"/>
            <a:ext cx="3570514" cy="43007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4D2AF54A-4E8D-D1E3-1B9E-C19C694963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3139" y="2144979"/>
            <a:ext cx="3327402" cy="4195673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E59A2324-1C76-1A57-5C07-348C7AC0F7FE}"/>
              </a:ext>
            </a:extLst>
          </p:cNvPr>
          <p:cNvSpPr/>
          <p:nvPr/>
        </p:nvSpPr>
        <p:spPr>
          <a:xfrm>
            <a:off x="1789611" y="2947851"/>
            <a:ext cx="1258389" cy="55735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F614184-7A14-908B-9E5F-53C5691924D1}"/>
              </a:ext>
            </a:extLst>
          </p:cNvPr>
          <p:cNvSpPr/>
          <p:nvPr/>
        </p:nvSpPr>
        <p:spPr>
          <a:xfrm>
            <a:off x="8080465" y="3281607"/>
            <a:ext cx="1268186" cy="450016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169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DA029-2240-8253-0CAD-311B8ABE7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31B538-2827-602D-50BD-2303048B0F8C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8CB05-89F6-C0E5-A08C-F3DF5BCB034E}"/>
              </a:ext>
            </a:extLst>
          </p:cNvPr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A44FB1-DF30-EC96-F3B2-498CA4103B60}"/>
              </a:ext>
            </a:extLst>
          </p:cNvPr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006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AC7FE9-3FB7-D614-E687-1FCE822FC3A3}"/>
              </a:ext>
            </a:extLst>
          </p:cNvPr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Architecture Overview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8C5C05-591A-C835-4DCF-9743E6FCEEBA}"/>
              </a:ext>
            </a:extLst>
          </p:cNvPr>
          <p:cNvSpPr txBox="1"/>
          <p:nvPr/>
        </p:nvSpPr>
        <p:spPr>
          <a:xfrm>
            <a:off x="365760" y="8686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CCCCCC"/>
                </a:solidFill>
              </a:rPr>
              <a:t>Hierarchical multi-agent system built with </a:t>
            </a:r>
            <a:r>
              <a:rPr sz="1400" b="0" dirty="0" err="1">
                <a:solidFill>
                  <a:srgbClr val="CCCCCC"/>
                </a:solidFill>
              </a:rPr>
              <a:t>LangGraph</a:t>
            </a:r>
            <a:endParaRPr sz="1400" b="0" dirty="0">
              <a:solidFill>
                <a:srgbClr val="CCCCCC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E49254-2D12-4D22-F70A-D35C4B266673}"/>
              </a:ext>
            </a:extLst>
          </p:cNvPr>
          <p:cNvSpPr/>
          <p:nvPr/>
        </p:nvSpPr>
        <p:spPr>
          <a:xfrm>
            <a:off x="274320" y="1645920"/>
            <a:ext cx="53035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DD5CEE-BB71-E0CD-619A-E659C36BD2AF}"/>
              </a:ext>
            </a:extLst>
          </p:cNvPr>
          <p:cNvSpPr/>
          <p:nvPr/>
        </p:nvSpPr>
        <p:spPr>
          <a:xfrm>
            <a:off x="274320" y="1645920"/>
            <a:ext cx="5303520" cy="347472"/>
          </a:xfrm>
          <a:prstGeom prst="rect">
            <a:avLst/>
          </a:prstGeom>
          <a:solidFill>
            <a:srgbClr val="006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7D5754-59C0-D559-5F43-81762DE56156}"/>
              </a:ext>
            </a:extLst>
          </p:cNvPr>
          <p:cNvSpPr txBox="1"/>
          <p:nvPr/>
        </p:nvSpPr>
        <p:spPr>
          <a:xfrm>
            <a:off x="365760" y="1682496"/>
            <a:ext cx="51206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 b="1" dirty="0">
                <a:solidFill>
                  <a:srgbClr val="FFFFFF"/>
                </a:solidFill>
              </a:rPr>
              <a:t>Current Graph</a:t>
            </a:r>
            <a:endParaRPr sz="1300" b="1" dirty="0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D6A10E-6622-A198-0D18-9D05D31E2323}"/>
              </a:ext>
            </a:extLst>
          </p:cNvPr>
          <p:cNvSpPr/>
          <p:nvPr/>
        </p:nvSpPr>
        <p:spPr>
          <a:xfrm>
            <a:off x="6126480" y="1645920"/>
            <a:ext cx="57607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EA84F8F-152E-4CD6-BB36-AD20307CE4F7}"/>
              </a:ext>
            </a:extLst>
          </p:cNvPr>
          <p:cNvSpPr/>
          <p:nvPr/>
        </p:nvSpPr>
        <p:spPr>
          <a:xfrm>
            <a:off x="6126480" y="1645920"/>
            <a:ext cx="5760720" cy="347472"/>
          </a:xfrm>
          <a:prstGeom prst="rect">
            <a:avLst/>
          </a:prstGeom>
          <a:solidFill>
            <a:srgbClr val="006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626EDE-9B38-E6C8-35A3-55F04B13218E}"/>
              </a:ext>
            </a:extLst>
          </p:cNvPr>
          <p:cNvSpPr txBox="1"/>
          <p:nvPr/>
        </p:nvSpPr>
        <p:spPr>
          <a:xfrm>
            <a:off x="6217920" y="1682496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Query Lifecycle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D19DEF-F670-6674-A95B-B0864A0A7A36}"/>
              </a:ext>
            </a:extLst>
          </p:cNvPr>
          <p:cNvSpPr/>
          <p:nvPr/>
        </p:nvSpPr>
        <p:spPr>
          <a:xfrm>
            <a:off x="6309360" y="2240280"/>
            <a:ext cx="347472" cy="347472"/>
          </a:xfrm>
          <a:prstGeom prst="rect">
            <a:avLst/>
          </a:prstGeom>
          <a:solidFill>
            <a:srgbClr val="006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85F8CE-7C0B-1021-2A2C-0B06C914FA81}"/>
              </a:ext>
            </a:extLst>
          </p:cNvPr>
          <p:cNvSpPr txBox="1"/>
          <p:nvPr/>
        </p:nvSpPr>
        <p:spPr>
          <a:xfrm>
            <a:off x="6309360" y="22402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7B61BF-3EF2-1E2B-72AA-7B9F6FB89BD0}"/>
              </a:ext>
            </a:extLst>
          </p:cNvPr>
          <p:cNvSpPr txBox="1"/>
          <p:nvPr/>
        </p:nvSpPr>
        <p:spPr>
          <a:xfrm>
            <a:off x="6720840" y="224028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1A1A2E"/>
                </a:solidFill>
              </a:rPr>
              <a:t>Summarize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943DA2-E4DD-C123-8DBC-C59AC1F9211A}"/>
              </a:ext>
            </a:extLst>
          </p:cNvPr>
          <p:cNvSpPr txBox="1"/>
          <p:nvPr/>
        </p:nvSpPr>
        <p:spPr>
          <a:xfrm>
            <a:off x="7576457" y="2240280"/>
            <a:ext cx="408214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dirty="0">
                <a:solidFill>
                  <a:srgbClr val="555566"/>
                </a:solidFill>
              </a:rPr>
              <a:t>Condense old message history</a:t>
            </a:r>
            <a:r>
              <a:rPr lang="en-US" sz="1100" b="0" dirty="0">
                <a:solidFill>
                  <a:srgbClr val="555566"/>
                </a:solidFill>
              </a:rPr>
              <a:t>. </a:t>
            </a:r>
          </a:p>
          <a:p>
            <a:r>
              <a:rPr lang="en-US" sz="1100" dirty="0">
                <a:solidFill>
                  <a:srgbClr val="1A1A2E"/>
                </a:solidFill>
              </a:rPr>
              <a:t>Condenses messages &gt; 3k tokens on every request. Model: gpt-4o-mini</a:t>
            </a:r>
          </a:p>
          <a:p>
            <a:pPr algn="l"/>
            <a:endParaRPr sz="1100" b="0" dirty="0">
              <a:solidFill>
                <a:srgbClr val="555566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CA438AD-6167-A3D4-8CEF-1E77A3DA9E0C}"/>
              </a:ext>
            </a:extLst>
          </p:cNvPr>
          <p:cNvSpPr/>
          <p:nvPr/>
        </p:nvSpPr>
        <p:spPr>
          <a:xfrm>
            <a:off x="6309360" y="2834640"/>
            <a:ext cx="347472" cy="347472"/>
          </a:xfrm>
          <a:prstGeom prst="rect">
            <a:avLst/>
          </a:prstGeom>
          <a:solidFill>
            <a:srgbClr val="006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F24AE2-FB7B-3196-F37D-AE1A7B4CBDAC}"/>
              </a:ext>
            </a:extLst>
          </p:cNvPr>
          <p:cNvSpPr txBox="1"/>
          <p:nvPr/>
        </p:nvSpPr>
        <p:spPr>
          <a:xfrm>
            <a:off x="6309360" y="28346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FA513C-3058-9932-2BF3-C68834720896}"/>
              </a:ext>
            </a:extLst>
          </p:cNvPr>
          <p:cNvSpPr txBox="1"/>
          <p:nvPr/>
        </p:nvSpPr>
        <p:spPr>
          <a:xfrm>
            <a:off x="6720840" y="28346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</a:rPr>
              <a:t>Gatekeeper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0C067C2-2A56-1C70-220A-0E8F098B68B4}"/>
              </a:ext>
            </a:extLst>
          </p:cNvPr>
          <p:cNvSpPr txBox="1"/>
          <p:nvPr/>
        </p:nvSpPr>
        <p:spPr>
          <a:xfrm>
            <a:off x="7576457" y="2834640"/>
            <a:ext cx="408214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dirty="0">
                <a:solidFill>
                  <a:srgbClr val="555566"/>
                </a:solidFill>
              </a:rPr>
              <a:t>Security check + query classification</a:t>
            </a:r>
            <a:r>
              <a:rPr lang="en-US" sz="1100" b="0" dirty="0">
                <a:solidFill>
                  <a:srgbClr val="555566"/>
                </a:solidFill>
              </a:rPr>
              <a:t> + Direct response from message history. </a:t>
            </a:r>
            <a:r>
              <a:rPr lang="en-US" sz="1100" dirty="0">
                <a:solidFill>
                  <a:srgbClr val="1A1A2E"/>
                </a:solidFill>
              </a:rPr>
              <a:t>Model: gpt-4.1</a:t>
            </a:r>
            <a:endParaRPr sz="1100" b="0" dirty="0">
              <a:solidFill>
                <a:srgbClr val="555566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148FF78-091B-3873-9B04-DCDECD532EFB}"/>
              </a:ext>
            </a:extLst>
          </p:cNvPr>
          <p:cNvSpPr/>
          <p:nvPr/>
        </p:nvSpPr>
        <p:spPr>
          <a:xfrm>
            <a:off x="6309360" y="3429000"/>
            <a:ext cx="347472" cy="347472"/>
          </a:xfrm>
          <a:prstGeom prst="rect">
            <a:avLst/>
          </a:prstGeom>
          <a:solidFill>
            <a:srgbClr val="006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651183-007A-23F2-82B3-EA368CDECE6C}"/>
              </a:ext>
            </a:extLst>
          </p:cNvPr>
          <p:cNvSpPr txBox="1"/>
          <p:nvPr/>
        </p:nvSpPr>
        <p:spPr>
          <a:xfrm>
            <a:off x="6309360" y="34290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723C9A8-C1C0-65E2-959B-B192C20B6E56}"/>
              </a:ext>
            </a:extLst>
          </p:cNvPr>
          <p:cNvSpPr txBox="1"/>
          <p:nvPr/>
        </p:nvSpPr>
        <p:spPr>
          <a:xfrm>
            <a:off x="6720840" y="34290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</a:rPr>
              <a:t>Supervisor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17EA21F-F14B-48B0-5169-106BF205F323}"/>
              </a:ext>
            </a:extLst>
          </p:cNvPr>
          <p:cNvSpPr txBox="1"/>
          <p:nvPr/>
        </p:nvSpPr>
        <p:spPr>
          <a:xfrm>
            <a:off x="7576457" y="3429000"/>
            <a:ext cx="4082143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555566"/>
                </a:solidFill>
              </a:rPr>
              <a:t>Plan &amp; dispatch to specialist agents</a:t>
            </a:r>
            <a:r>
              <a:rPr lang="en-US" sz="1100" b="0" dirty="0">
                <a:solidFill>
                  <a:srgbClr val="555566"/>
                </a:solidFill>
              </a:rPr>
              <a:t>. </a:t>
            </a:r>
          </a:p>
          <a:p>
            <a:r>
              <a:rPr lang="en-US" sz="1100" dirty="0">
                <a:solidFill>
                  <a:srgbClr val="1A1A2E"/>
                </a:solidFill>
              </a:rPr>
              <a:t>Orchestrates agents via Plan → Route → Finalize cycle</a:t>
            </a:r>
          </a:p>
          <a:p>
            <a:pPr algn="l"/>
            <a:endParaRPr sz="1100" b="0" dirty="0">
              <a:solidFill>
                <a:srgbClr val="555566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DE25A1C-85E3-533D-9FDE-795AB7121B11}"/>
              </a:ext>
            </a:extLst>
          </p:cNvPr>
          <p:cNvSpPr/>
          <p:nvPr/>
        </p:nvSpPr>
        <p:spPr>
          <a:xfrm>
            <a:off x="6309360" y="4023360"/>
            <a:ext cx="347472" cy="347472"/>
          </a:xfrm>
          <a:prstGeom prst="rect">
            <a:avLst/>
          </a:prstGeom>
          <a:solidFill>
            <a:srgbClr val="006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E8E1E4C-1EEC-E51D-C71D-C1392EBA149C}"/>
              </a:ext>
            </a:extLst>
          </p:cNvPr>
          <p:cNvSpPr txBox="1"/>
          <p:nvPr/>
        </p:nvSpPr>
        <p:spPr>
          <a:xfrm>
            <a:off x="6309360" y="40233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8B5141F-018C-5F4D-E1D0-7C92E55735FF}"/>
              </a:ext>
            </a:extLst>
          </p:cNvPr>
          <p:cNvSpPr txBox="1"/>
          <p:nvPr/>
        </p:nvSpPr>
        <p:spPr>
          <a:xfrm>
            <a:off x="6720840" y="40233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</a:rPr>
              <a:t>Agents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4911C9D-61DC-FE86-FC42-35EC782E5AED}"/>
              </a:ext>
            </a:extLst>
          </p:cNvPr>
          <p:cNvSpPr txBox="1"/>
          <p:nvPr/>
        </p:nvSpPr>
        <p:spPr>
          <a:xfrm>
            <a:off x="7576457" y="4023360"/>
            <a:ext cx="4082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555566"/>
                </a:solidFill>
              </a:rPr>
              <a:t>Kyma / Kubernetes / Common process tasks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9400ED7-F70C-2558-C90F-CFB6A16C9D50}"/>
              </a:ext>
            </a:extLst>
          </p:cNvPr>
          <p:cNvSpPr/>
          <p:nvPr/>
        </p:nvSpPr>
        <p:spPr>
          <a:xfrm>
            <a:off x="6309360" y="4617720"/>
            <a:ext cx="347472" cy="347472"/>
          </a:xfrm>
          <a:prstGeom prst="rect">
            <a:avLst/>
          </a:prstGeom>
          <a:solidFill>
            <a:srgbClr val="006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4F83BA4-5B87-B183-6843-F064F1475F1D}"/>
              </a:ext>
            </a:extLst>
          </p:cNvPr>
          <p:cNvSpPr txBox="1"/>
          <p:nvPr/>
        </p:nvSpPr>
        <p:spPr>
          <a:xfrm>
            <a:off x="6309360" y="46177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DA99D9A-4250-5C7D-3FEE-65C591671F49}"/>
              </a:ext>
            </a:extLst>
          </p:cNvPr>
          <p:cNvSpPr txBox="1"/>
          <p:nvPr/>
        </p:nvSpPr>
        <p:spPr>
          <a:xfrm>
            <a:off x="6720840" y="46177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</a:rPr>
              <a:t>Finalizer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A2C495B-050F-55FB-776D-212099070DCD}"/>
              </a:ext>
            </a:extLst>
          </p:cNvPr>
          <p:cNvSpPr txBox="1"/>
          <p:nvPr/>
        </p:nvSpPr>
        <p:spPr>
          <a:xfrm>
            <a:off x="7576457" y="4617720"/>
            <a:ext cx="40821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555566"/>
                </a:solidFill>
              </a:rPr>
              <a:t>Synthesize responses into final answer</a:t>
            </a:r>
            <a:r>
              <a:rPr lang="en-US" sz="1100" b="0" dirty="0">
                <a:solidFill>
                  <a:srgbClr val="555566"/>
                </a:solidFill>
              </a:rPr>
              <a:t> + filter inappropriate parts</a:t>
            </a:r>
            <a:endParaRPr sz="1100" b="0" dirty="0">
              <a:solidFill>
                <a:srgbClr val="555566"/>
              </a:solidFill>
            </a:endParaRPr>
          </a:p>
        </p:txBody>
      </p:sp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3B1822CC-23D3-230E-A237-736C52DE9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604" y="2185196"/>
            <a:ext cx="4988356" cy="4032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1063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006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>
                <a:solidFill>
                  <a:srgbClr val="FFFFFF"/>
                </a:solidFill>
              </a:rPr>
              <a:t>Gatekeeper Node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CCCCCC"/>
                </a:solidFill>
              </a:rPr>
              <a:t>Security gate and query classifier — Model: gpt-4.1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45920"/>
            <a:ext cx="54864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645920"/>
            <a:ext cx="5486400" cy="347472"/>
          </a:xfrm>
          <a:prstGeom prst="rect">
            <a:avLst/>
          </a:prstGeom>
          <a:solidFill>
            <a:srgbClr val="006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68249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FFFFFF"/>
                </a:solidFill>
              </a:rPr>
              <a:t>Responsibilities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4884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</a:rPr>
              <a:t>•  Detects prompt injection via system fields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</a:rPr>
              <a:t>•  Detects security threats (RCE, SQLi, attack payloads)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</a:rPr>
              <a:t>•  Classifies queries: Kyma, K8s, Programming, Greeting, Irrelevant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</a:rPr>
              <a:t>•  Answers greetings directly (no forwarding)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</a:rPr>
              <a:t>•  Answers Programming / About You queries via LLM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</a:rPr>
              <a:t>•  Resolves past-tense Kyma/K8s queries from history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</a:rPr>
              <a:t>•  Forwards present-tense Kyma/K8s queries to Supervisor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</a:rPr>
              <a:t>•  Rejects out-of-domain queries with fixed message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645920"/>
            <a:ext cx="58521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35040" y="1645920"/>
            <a:ext cx="5852160" cy="347472"/>
          </a:xfrm>
          <a:prstGeom prst="rect">
            <a:avLst/>
          </a:prstGeom>
          <a:solidFill>
            <a:srgbClr val="006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6479" y="1682496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Routing Rules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240280"/>
            <a:ext cx="109728" cy="2926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0" y="224028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Prompt Injection detected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24028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6B35"/>
                </a:solidFill>
              </a:rPr>
              <a:t>Block → outside-domain msg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2715768"/>
            <a:ext cx="109728" cy="2926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9360" y="271576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Security threat detected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71576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6B35"/>
                </a:solidFill>
              </a:rPr>
              <a:t>Block → outside-domain msg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3191256"/>
            <a:ext cx="109728" cy="2926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09360" y="319125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Category: Irrelevant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3191256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6B35"/>
                </a:solidFill>
              </a:rPr>
              <a:t>Block → outside-domain msg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3666744"/>
            <a:ext cx="109728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09360" y="366674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Category: Greeting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3666744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CCCCC"/>
                </a:solidFill>
              </a:rPr>
              <a:t>Fixed hello response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4142231"/>
            <a:ext cx="109728" cy="292608"/>
          </a:xfrm>
          <a:prstGeom prst="rect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09360" y="4142231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Kyma/K8s + past-tense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4142231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B48A"/>
                </a:solidFill>
              </a:rPr>
              <a:t>Answer from history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4617719"/>
            <a:ext cx="109728" cy="292608"/>
          </a:xfrm>
          <a:prstGeom prst="rect">
            <a:avLst/>
          </a:prstGeom>
          <a:solidFill>
            <a:srgbClr val="006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9360" y="4617719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Kyma/K8s (present)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4617719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6DBD"/>
                </a:solidFill>
              </a:rPr>
              <a:t>Forward → Supervisor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5093207"/>
            <a:ext cx="109728" cy="292608"/>
          </a:xfrm>
          <a:prstGeom prst="rect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09360" y="5093207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Programming / About You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0" y="5093207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B48A"/>
                </a:solidFill>
              </a:rPr>
              <a:t>Answer directly via LLM</a:t>
            </a:r>
          </a:p>
        </p:txBody>
      </p:sp>
      <p:pic>
        <p:nvPicPr>
          <p:cNvPr id="35" name="Picture 2" descr="Image">
            <a:extLst>
              <a:ext uri="{FF2B5EF4-FFF2-40B4-BE49-F238E27FC236}">
                <a16:creationId xmlns:a16="http://schemas.microsoft.com/office/drawing/2014/main" id="{31EE6BC0-27AE-19A5-7E3F-60EF186504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" y="4108986"/>
            <a:ext cx="2797001" cy="2261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006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>
                <a:solidFill>
                  <a:srgbClr val="FFFFFF"/>
                </a:solidFill>
              </a:rPr>
              <a:t>Supervisor Subgraph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CCCCCC"/>
                </a:solidFill>
              </a:rPr>
              <a:t>Plans, routes, and finalizes multi-agent responses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45920"/>
            <a:ext cx="3749039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645920"/>
            <a:ext cx="3749039" cy="411480"/>
          </a:xfrm>
          <a:prstGeom prst="rect">
            <a:avLst/>
          </a:prstGeom>
          <a:solidFill>
            <a:srgbClr val="006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164592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Planner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19456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</a:rPr>
              <a:t>•  Breaks query into ordered SubTask list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</a:rPr>
              <a:t>•  Assigns to: KymaAgent, KubernetesAgent, Common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</a:rPr>
              <a:t>•  Cluster-wide → both agents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</a:rPr>
              <a:t>•  Namespace-wide → both (namespace-scoped)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</a:rPr>
              <a:t>•  Mixed-domain → split by domain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</a:rPr>
              <a:t>•  Ambiguous → defaults to KymaAgent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</a:rPr>
              <a:t>•  General/programming → Common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</a:rPr>
              <a:t>•  Model: gpt-4o-mini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645920"/>
            <a:ext cx="3749039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97680" y="1645920"/>
            <a:ext cx="3749039" cy="411480"/>
          </a:xfrm>
          <a:prstGeom prst="rect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97680" y="164592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Router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19456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</a:rPr>
              <a:t>•  Pure logic node — no LLM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</a:rPr>
              <a:t>•  Scans subtasks for first PENDING item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</a:rPr>
              <a:t>•  Sets 'next' = assigned agent name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</a:rPr>
              <a:t>•  If no PENDING tasks → routes to Finalizer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</a:rPr>
              <a:t>•  Determines which agent runs next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1645920"/>
            <a:ext cx="3749039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21040" y="1645920"/>
            <a:ext cx="3749039" cy="4114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164592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Finalizer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19456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</a:rPr>
              <a:t>•  Synthesizes all agent responses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</a:rPr>
              <a:t>•  Never invents content beyond agent output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</a:rPr>
              <a:t>•  Filters malicious content from responses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</a:rPr>
              <a:t>•  Wraps new YAML in &lt;YAML-NEW&gt; tags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</a:rPr>
              <a:t>•  Wraps update YAML in &lt;YAML-UPDATE&gt; tags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</a:rPr>
              <a:t>•  All agents failed → standard failure msg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</a:rPr>
              <a:t>•  Runs ResponseConverter post-processing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</a:rPr>
              <a:t>•  Model: gpt-4.1</a:t>
            </a:r>
          </a:p>
        </p:txBody>
      </p:sp>
      <p:pic>
        <p:nvPicPr>
          <p:cNvPr id="20" name="Picture 2" descr="Image">
            <a:extLst>
              <a:ext uri="{FF2B5EF4-FFF2-40B4-BE49-F238E27FC236}">
                <a16:creationId xmlns:a16="http://schemas.microsoft.com/office/drawing/2014/main" id="{83DB5B0E-32CE-A5AD-134F-12A9EDE1E4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" y="4158343"/>
            <a:ext cx="2774003" cy="2242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006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Agent Subgraph (KymaAgent &amp; KubernetesAgent)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Shared architecture — each handles domain-specific subtasks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45920"/>
            <a:ext cx="38404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645920"/>
            <a:ext cx="3840480" cy="347472"/>
          </a:xfrm>
          <a:prstGeom prst="rect">
            <a:avLst/>
          </a:prstGeom>
          <a:solidFill>
            <a:srgbClr val="006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68249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Execution Loop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1920240" cy="347472"/>
          </a:xfrm>
          <a:prstGeom prst="rect">
            <a:avLst/>
          </a:prstGeom>
          <a:solidFill>
            <a:srgbClr val="006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24028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subtask_selector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24028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</a:rPr>
              <a:t>Find pending subtask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807208"/>
            <a:ext cx="1920240" cy="347472"/>
          </a:xfrm>
          <a:prstGeom prst="rect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80720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agent (LLM + tools)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80720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</a:rPr>
              <a:t>Run LLM with bound tools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74136"/>
            <a:ext cx="1920240" cy="34747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337413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Summarization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3374136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</a:rPr>
              <a:t>Compress messages if needed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941064"/>
            <a:ext cx="1920240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9410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3941064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</a:rPr>
              <a:t>Execute tool calls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507992"/>
            <a:ext cx="192024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50799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1A2E"/>
                </a:solidFill>
              </a:rPr>
              <a:t>(loop → agent)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450799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</a:rPr>
              <a:t>Repeat until done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074920"/>
            <a:ext cx="1920240" cy="34747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507492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finalizer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507492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</a:rPr>
              <a:t>Mark COMPLETED, clean up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20" y="1645920"/>
            <a:ext cx="7498079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389120" y="1645920"/>
            <a:ext cx="7498079" cy="347472"/>
          </a:xfrm>
          <a:prstGeom prst="rect">
            <a:avLst/>
          </a:prstGeom>
          <a:solidFill>
            <a:srgbClr val="006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80559" y="1682496"/>
            <a:ext cx="73151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Node Descriptions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2212848"/>
            <a:ext cx="7132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6DBD"/>
                </a:solidFill>
              </a:rPr>
              <a:t>subtask_selector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2468880"/>
            <a:ext cx="7132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Scans state.subtasks for PENDING task assigned to this agent. If none found, routes to finalizer.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3063240"/>
            <a:ext cx="7132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6DBD"/>
                </a:solidFill>
              </a:rPr>
              <a:t>agent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3319272"/>
            <a:ext cx="7132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Invokes LLM with tools on my_task.description + filtered history. Summarizes oversized tool responses. Stops early if remaining_steps ≤ 3.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3913632"/>
            <a:ext cx="7132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6DBD"/>
                </a:solidFill>
              </a:rPr>
              <a:t>Summarization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4169664"/>
            <a:ext cx="7132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Agent-level token compression scoped to agent_messages / agent_messages_summary. Triggered when agent decides to call tools.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4764024"/>
            <a:ext cx="7132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6DBD"/>
                </a:solidFill>
              </a:rPr>
              <a:t>tools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5020056"/>
            <a:ext cx="7132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LangGraph ToolNode executing tool calls from last AIMessage. handle_tool_errors=True — exceptions returned as ToolMessage for agent retry.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5614416"/>
            <a:ext cx="7132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6DBD"/>
                </a:solidFill>
              </a:rPr>
              <a:t>finalizer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5870448"/>
            <a:ext cx="7132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Marks subtask COMPLETED (or keeps ERROR). Prepends subtask description for traceability. Promotes final result to parent messages list.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006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Agent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Domain-specific tools available to each agent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45920"/>
            <a:ext cx="54864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645920"/>
            <a:ext cx="5486400" cy="347472"/>
          </a:xfrm>
          <a:prstGeom prst="rect">
            <a:avLst/>
          </a:prstGeom>
          <a:solidFill>
            <a:srgbClr val="006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68249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KymaAgent Tools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109728" cy="256032"/>
          </a:xfrm>
          <a:prstGeom prst="rect">
            <a:avLst/>
          </a:prstGeom>
          <a:solidFill>
            <a:srgbClr val="006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6DBD"/>
                </a:solidFill>
              </a:rPr>
              <a:t>fetch_kyma_resource_version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50591"/>
            <a:ext cx="4937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Discovers API group/version for Kyma resource kinds. Warns on deprecated versions. Uses K8s discovery endpoint.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108960"/>
            <a:ext cx="109728" cy="256032"/>
          </a:xfrm>
          <a:prstGeom prst="rect">
            <a:avLst/>
          </a:prstGeom>
          <a:solidFill>
            <a:srgbClr val="006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10896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6DBD"/>
                </a:solidFill>
              </a:rPr>
              <a:t>kyma_query_tool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364991"/>
            <a:ext cx="4937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Executes raw GET against K8s API server via full URI. Returns Kyma resource JSON.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023360"/>
            <a:ext cx="109728" cy="256032"/>
          </a:xfrm>
          <a:prstGeom prst="rect">
            <a:avLst/>
          </a:prstGeom>
          <a:solidFill>
            <a:srgbClr val="006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02336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6DBD"/>
                </a:solidFill>
              </a:rPr>
              <a:t>search_kyma_doc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279392"/>
            <a:ext cx="4937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RAG search over official Kyma docs. Returns top-5 relevant chunks (text-embedding-3-large). Filters by relevancy score ≥ 0.5.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5074920"/>
            <a:ext cx="5486400" cy="347472"/>
          </a:xfrm>
          <a:prstGeom prst="rect">
            <a:avLst/>
          </a:prstGeom>
          <a:solidFill>
            <a:srgbClr val="006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511149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KymaAgent Tool 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48640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1A1A2E"/>
                </a:solidFill>
              </a:rPr>
              <a:t>•  Resource unknown: fetch_version → query → search_doc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A1A2E"/>
                </a:solidFill>
              </a:rPr>
              <a:t>•  Resource known: query → search_doc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A1A2E"/>
                </a:solidFill>
              </a:rPr>
              <a:t>•  On 404: query(err) → fetch_version → query(retry) → search_doc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A1A2E"/>
                </a:solidFill>
              </a:rPr>
              <a:t>•  Conceptual queries: search_doc only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1645920"/>
            <a:ext cx="58521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035040" y="1645920"/>
            <a:ext cx="5852160" cy="347472"/>
          </a:xfrm>
          <a:prstGeom prst="rect">
            <a:avLst/>
          </a:prstGeom>
          <a:solidFill>
            <a:srgbClr val="006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26479" y="1682496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KubernetesAgent Tools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194560"/>
            <a:ext cx="109728" cy="256032"/>
          </a:xfrm>
          <a:prstGeom prst="rect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0" y="219456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48A"/>
                </a:solidFill>
              </a:rPr>
              <a:t>k8s_query_tool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50591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Raw GET against K8s API server via full URI. Sanitizes sensitive data (e.g. removes Secret.data field).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108960"/>
            <a:ext cx="109728" cy="256032"/>
          </a:xfrm>
          <a:prstGeom prst="rect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0" y="310896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48A"/>
                </a:solidFill>
              </a:rPr>
              <a:t>fetch_pod_logs_tool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364991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Fetches last 10 lines of current + previous logs for a pod container. Returns structured diagnostic context if current logs unavailable.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4297680"/>
            <a:ext cx="5852160" cy="347472"/>
          </a:xfrm>
          <a:prstGeom prst="rect">
            <a:avLst/>
          </a:prstGeom>
          <a:solidFill>
            <a:srgbClr val="006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26479" y="4334256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Common Node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47548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No tools — answers directly from LLM knowledge and conversation history.
Used for: general programming questions, conceptual explanations, anything not requiring cluster access.
Model: gpt-4o-mini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006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Configuration &amp; Guardrails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Limits that prevent runaway token usage, infinite loops, and context overload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45920"/>
            <a:ext cx="54864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645920"/>
            <a:ext cx="5486400" cy="347472"/>
          </a:xfrm>
          <a:prstGeom prst="rect">
            <a:avLst/>
          </a:prstGeom>
          <a:solidFill>
            <a:srgbClr val="006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68249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Summarization &amp; Step Limits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1284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1A2E"/>
                </a:solidFill>
              </a:rPr>
              <a:t>SUMMARIZATION_TOKEN_UPPER_LIMIT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63240" y="2231136"/>
            <a:ext cx="1005840" cy="219456"/>
          </a:xfrm>
          <a:prstGeom prst="rect">
            <a:avLst/>
          </a:prstGeom>
          <a:solidFill>
            <a:srgbClr val="006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63240" y="221284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3,000 tokens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212848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</a:rPr>
              <a:t>Triggers summarization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71576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1A2E"/>
                </a:solidFill>
              </a:rPr>
              <a:t>SUMMARIZATION_TOKEN_LOWER_LIMIT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63240" y="2734056"/>
            <a:ext cx="1005840" cy="219456"/>
          </a:xfrm>
          <a:prstGeom prst="rect">
            <a:avLst/>
          </a:prstGeom>
          <a:solidFill>
            <a:srgbClr val="006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063240" y="27157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2,000 tokens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715768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</a:rPr>
              <a:t>Target after trimming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218687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1A2E"/>
                </a:solidFill>
              </a:rPr>
              <a:t>TOOL_RESPONSE_TOKEN_COUNT_LIMIT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63240" y="3236975"/>
            <a:ext cx="1005840" cy="219456"/>
          </a:xfrm>
          <a:prstGeom prst="rect">
            <a:avLst/>
          </a:prstGeom>
          <a:solidFill>
            <a:srgbClr val="006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063240" y="3218687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10,000 tokens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3218687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</a:rPr>
              <a:t>Summarize oversized tool responses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721607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1A2E"/>
                </a:solidFill>
              </a:rPr>
              <a:t>TOTAL_CHUNKS_LIMIT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63240" y="3739895"/>
            <a:ext cx="1005840" cy="219456"/>
          </a:xfrm>
          <a:prstGeom prst="rect">
            <a:avLst/>
          </a:prstGeom>
          <a:solidFill>
            <a:srgbClr val="006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063240" y="3721607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2 chunks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3721607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</a:rPr>
              <a:t>Max chunks; else query rejected as too broad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224527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1A2E"/>
                </a:solidFill>
              </a:rPr>
              <a:t>remaining_steps (BaseAgentState)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63240" y="4242815"/>
            <a:ext cx="1005840" cy="219456"/>
          </a:xfrm>
          <a:prstGeom prst="rect">
            <a:avLst/>
          </a:prstGeom>
          <a:solidFill>
            <a:srgbClr val="006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063240" y="4224527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25 steps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4224527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</a:rPr>
              <a:t>LangGraph-managed recursion counter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727447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1A2E"/>
                </a:solidFill>
              </a:rPr>
              <a:t>AGENT_STEPS_NUMBER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63240" y="4745735"/>
            <a:ext cx="1005840" cy="219456"/>
          </a:xfrm>
          <a:prstGeom prst="rect">
            <a:avLst/>
          </a:prstGeom>
          <a:solidFill>
            <a:srgbClr val="006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063240" y="4727447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3 steps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4727447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</a:rPr>
              <a:t>Stop tool calls when ≤3 steps remain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230367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1A2E"/>
                </a:solidFill>
              </a:rPr>
              <a:t>GRAPH_STEP_TIMEOUT_SECONDS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63240" y="5248655"/>
            <a:ext cx="1005840" cy="219456"/>
          </a:xfrm>
          <a:prstGeom prst="rect">
            <a:avLst/>
          </a:prstGeom>
          <a:solidFill>
            <a:srgbClr val="006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063240" y="5230367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180 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5230367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</a:rPr>
              <a:t>Per-step wall-clock timeout for agents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733287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1A2E"/>
                </a:solidFill>
              </a:rPr>
              <a:t>RECENT_MESSAGES_LIMIT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63240" y="5751575"/>
            <a:ext cx="1005840" cy="219456"/>
          </a:xfrm>
          <a:prstGeom prst="rect">
            <a:avLst/>
          </a:prstGeom>
          <a:solidFill>
            <a:srgbClr val="006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063240" y="5733287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10 messages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0" y="5733287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</a:rPr>
              <a:t>History window passed to Planner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35040" y="1645920"/>
            <a:ext cx="58521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035040" y="1645920"/>
            <a:ext cx="5852160" cy="347472"/>
          </a:xfrm>
          <a:prstGeom prst="rect">
            <a:avLst/>
          </a:prstGeom>
          <a:solidFill>
            <a:srgbClr val="006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126479" y="1682496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API, RAG &amp; Token Quota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2212848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1A2E"/>
                </a:solidFill>
              </a:rPr>
              <a:t>K8S_API_PAGINATION_LIMIT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869680" y="2231136"/>
            <a:ext cx="1051560" cy="219456"/>
          </a:xfrm>
          <a:prstGeom prst="rect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869680" y="2212848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40 items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66960" y="221284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</a:rPr>
              <a:t>Items per page for K8s API listing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0" y="2715768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1A2E"/>
                </a:solidFill>
              </a:rPr>
              <a:t>K8S_API_PAGINATION_MAX_PAGE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869680" y="2734056"/>
            <a:ext cx="1051560" cy="219456"/>
          </a:xfrm>
          <a:prstGeom prst="rect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869680" y="2715768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1 page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60" y="27157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</a:rPr>
              <a:t>Only first page retrieved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7920" y="3218687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1A2E"/>
                </a:solidFill>
              </a:rPr>
              <a:t>POD_LOGS_TAIL_LINES_LIMIT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869680" y="3236975"/>
            <a:ext cx="1051560" cy="219456"/>
          </a:xfrm>
          <a:prstGeom prst="rect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869680" y="3218687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10 lines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66960" y="3218687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</a:rPr>
              <a:t>Log lines per container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17920" y="3721607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1A2E"/>
                </a:solidFill>
              </a:rPr>
              <a:t>RAG_RELEVANCY_SCORE_THRESHOLD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869680" y="3739895"/>
            <a:ext cx="1051560" cy="219456"/>
          </a:xfrm>
          <a:prstGeom prst="rect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869680" y="3721607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0.5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966960" y="3721607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</a:rPr>
              <a:t>Min cosine similarity for doc chunks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17920" y="4224527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1A2E"/>
                </a:solidFill>
              </a:rPr>
              <a:t>DEFAULT_TOP_K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869680" y="4242815"/>
            <a:ext cx="1051560" cy="219456"/>
          </a:xfrm>
          <a:prstGeom prst="rect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869680" y="4224527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5 chunks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966960" y="4224527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</a:rPr>
              <a:t>Max doc chunks per search_kyma_doc call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17920" y="4727447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1A2E"/>
                </a:solidFill>
              </a:rPr>
              <a:t>TOKEN_LIMIT_PER_CLUSTER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869680" y="4745735"/>
            <a:ext cx="1051560" cy="219456"/>
          </a:xfrm>
          <a:prstGeom prst="rect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869680" y="4727447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5,000,000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966960" y="4727447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</a:rPr>
              <a:t>Aggregate token cap per cluster (Redis-tracked)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17920" y="5230367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1A2E"/>
                </a:solidFill>
              </a:rPr>
              <a:t>TOKEN_USAGE_RESET_INTERVAL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869680" y="5248655"/>
            <a:ext cx="1051560" cy="219456"/>
          </a:xfrm>
          <a:prstGeom prst="rect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869680" y="5230367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86,400 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966960" y="5230367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</a:rPr>
              <a:t>Rolling 24h counter reset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17920" y="5733287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1A2E"/>
                </a:solidFill>
              </a:rPr>
              <a:t>MAX_TOKEN_LIMIT_INPUT_QUERY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869680" y="5751575"/>
            <a:ext cx="1051560" cy="219456"/>
          </a:xfrm>
          <a:prstGeom prst="rect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869680" y="5733287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8,000 tokens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966960" y="5733287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</a:rPr>
              <a:t>Max tokens in single input query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006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Model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Each component uses a model appropriate to its complexity and cost requirements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45920"/>
            <a:ext cx="116128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645920"/>
            <a:ext cx="11612880" cy="347472"/>
          </a:xfrm>
          <a:prstGeom prst="rect">
            <a:avLst/>
          </a:prstGeom>
          <a:solidFill>
            <a:srgbClr val="006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682496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Component → Model Mapping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12848"/>
            <a:ext cx="2560320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971800" y="2212848"/>
            <a:ext cx="2286000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303520" y="2212848"/>
            <a:ext cx="6400800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221284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Component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21284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21284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Rationale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624328"/>
            <a:ext cx="11521440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65760" y="2624328"/>
            <a:ext cx="73152" cy="3840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2624328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</a:rPr>
              <a:t>Gatekeeper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71800" y="2679192"/>
            <a:ext cx="2194560" cy="2743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971800" y="2660904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gpt-4.1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2624328"/>
            <a:ext cx="6355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Security-critical; needs highest accuracy for injection/threat detection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063240"/>
            <a:ext cx="115214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3063240"/>
            <a:ext cx="73152" cy="384048"/>
          </a:xfrm>
          <a:prstGeom prst="rect">
            <a:avLst/>
          </a:prstGeom>
          <a:solidFill>
            <a:srgbClr val="006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306324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</a:rPr>
              <a:t>KymaAgent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71800" y="3118104"/>
            <a:ext cx="2194560" cy="274320"/>
          </a:xfrm>
          <a:prstGeom prst="rect">
            <a:avLst/>
          </a:prstGeom>
          <a:solidFill>
            <a:srgbClr val="006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971800" y="309981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gpt-4.1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063240"/>
            <a:ext cx="6355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Complex Kyma domain reasoning + multi-step tool use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502152"/>
            <a:ext cx="11521440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65760" y="3502152"/>
            <a:ext cx="73152" cy="384048"/>
          </a:xfrm>
          <a:prstGeom prst="rect">
            <a:avLst/>
          </a:prstGeom>
          <a:solidFill>
            <a:srgbClr val="006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3502152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</a:rPr>
              <a:t>KubernetesAgent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71800" y="3557016"/>
            <a:ext cx="2194560" cy="274320"/>
          </a:xfrm>
          <a:prstGeom prst="rect">
            <a:avLst/>
          </a:prstGeom>
          <a:solidFill>
            <a:srgbClr val="006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971800" y="353872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gpt-4.1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3502152"/>
            <a:ext cx="6355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Complex K8s domain reasoning + multi-step tool use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941064"/>
            <a:ext cx="115214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65760" y="3941064"/>
            <a:ext cx="73152" cy="3840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2920" y="3941064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</a:rPr>
              <a:t>Finalizer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71800" y="3995928"/>
            <a:ext cx="2194560" cy="2743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971800" y="39776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gpt-4.1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0" y="3941064"/>
            <a:ext cx="6355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Full reasoning required to faithfully synthesize agent responses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379976"/>
            <a:ext cx="11521440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65760" y="4379976"/>
            <a:ext cx="73152" cy="384048"/>
          </a:xfrm>
          <a:prstGeom prst="rect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02920" y="4379976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</a:rPr>
              <a:t>Supervisor / Planner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71800" y="4434840"/>
            <a:ext cx="2194560" cy="274320"/>
          </a:xfrm>
          <a:prstGeom prst="rect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971800" y="44165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gpt-4o-mini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03520" y="4379976"/>
            <a:ext cx="6355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Task decomposition; fast and cost-efficient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818888"/>
            <a:ext cx="115214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365760" y="4818888"/>
            <a:ext cx="73152" cy="384048"/>
          </a:xfrm>
          <a:prstGeom prst="rect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02920" y="4818888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</a:rPr>
              <a:t>Common node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71800" y="4873752"/>
            <a:ext cx="2194560" cy="274320"/>
          </a:xfrm>
          <a:prstGeom prst="rect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971800" y="4855464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gpt-4o-mini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03520" y="4818888"/>
            <a:ext cx="6355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General questions; speed over capability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5257800"/>
            <a:ext cx="11521440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365760" y="5257800"/>
            <a:ext cx="73152" cy="384048"/>
          </a:xfrm>
          <a:prstGeom prst="rect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02920" y="525780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</a:rPr>
              <a:t>All Summarization nodes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971800" y="5312664"/>
            <a:ext cx="2194560" cy="274320"/>
          </a:xfrm>
          <a:prstGeom prst="rect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971800" y="529437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gpt-4o-mini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03520" y="5257800"/>
            <a:ext cx="6355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Cost-efficient; runs frequently on every agent cycle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2636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6DBD"/>
                </a:solidFill>
              </a:rPr>
              <a:t>Strategy: gpt-4.1 for security-critical and response-quality paths; gpt-4o-mini for high-frequency, cost-sensitive nodes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417320"/>
            <a:ext cx="12188952" cy="73152"/>
          </a:xfrm>
          <a:prstGeom prst="rect">
            <a:avLst/>
          </a:prstGeom>
          <a:solidFill>
            <a:srgbClr val="006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Architecture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737360"/>
            <a:ext cx="2834640" cy="4389120"/>
          </a:xfrm>
          <a:prstGeom prst="rect">
            <a:avLst/>
          </a:prstGeom>
          <a:solidFill>
            <a:srgbClr val="22223A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737360"/>
            <a:ext cx="283464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7373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Security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2331720"/>
            <a:ext cx="2560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 Gatekeeper on every query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 Prompt injection detection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 Security threat blocking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 gpt-4.1 on critical paths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73551" y="1737360"/>
            <a:ext cx="2834640" cy="4389120"/>
          </a:xfrm>
          <a:prstGeom prst="rect">
            <a:avLst/>
          </a:prstGeom>
          <a:solidFill>
            <a:srgbClr val="22223A"/>
          </a:solidFill>
          <a:ln w="25400">
            <a:solidFill>
              <a:srgbClr val="006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73551" y="1737360"/>
            <a:ext cx="2834640" cy="457200"/>
          </a:xfrm>
          <a:prstGeom prst="rect">
            <a:avLst/>
          </a:prstGeom>
          <a:solidFill>
            <a:srgbClr val="006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73551" y="17373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Smart Routing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0711" y="2331720"/>
            <a:ext cx="2560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 Query classification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 History-aware answering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 Multi-agent task decomposition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 Domain-specific delegation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72783" y="1737360"/>
            <a:ext cx="2834640" cy="4389120"/>
          </a:xfrm>
          <a:prstGeom prst="rect">
            <a:avLst/>
          </a:prstGeom>
          <a:solidFill>
            <a:srgbClr val="22223A"/>
          </a:solidFill>
          <a:ln w="25400">
            <a:solidFill>
              <a:srgbClr val="00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72783" y="1737360"/>
            <a:ext cx="2834640" cy="457200"/>
          </a:xfrm>
          <a:prstGeom prst="rect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72783" y="17373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Resource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2331720"/>
            <a:ext cx="2560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 Token budgets at every level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 Step limits prevent loops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 Tool response summarization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 Per-cluster usage quotas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72015" y="1737360"/>
            <a:ext cx="2834640" cy="4389120"/>
          </a:xfrm>
          <a:prstGeom prst="rect">
            <a:avLst/>
          </a:prstGeom>
          <a:solidFill>
            <a:srgbClr val="22223A"/>
          </a:solidFill>
          <a:ln w="254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272015" y="1737360"/>
            <a:ext cx="2834640" cy="457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72015" y="17373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Cost Efficiency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09176" y="2331720"/>
            <a:ext cx="2560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 gpt-4o-mini for high-frequency nodes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 RAG for doc retrieval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 Pagination limits on K8s API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 Rolling summarization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CCCC"/>
                </a:solidFill>
              </a:rPr>
              <a:t>Kyma Companion  •  LangGraph Multi-Agent Architecture  • 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1292</Words>
  <Application>Microsoft Macintosh PowerPoint</Application>
  <PresentationFormat>Custom</PresentationFormat>
  <Paragraphs>244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Faizan, Muhammad</cp:lastModifiedBy>
  <cp:revision>19</cp:revision>
  <dcterms:created xsi:type="dcterms:W3CDTF">2013-01-27T09:14:16Z</dcterms:created>
  <dcterms:modified xsi:type="dcterms:W3CDTF">2026-04-10T11:35:09Z</dcterms:modified>
  <cp:category/>
</cp:coreProperties>
</file>